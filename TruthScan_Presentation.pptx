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50B18"/>
          </a:solidFill>
          <a:ln w="12700">
            <a:solidFill>
              <a:srgbClr val="050B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754880" cy="68580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709160" y="0"/>
            <a:ext cx="54864" cy="685800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9728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300" kern="0" dirty="0">
                <a:solidFill>
                  <a:srgbClr val="4F8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AI-POWERED CREDIBILITY INTELLIGENCE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EEF2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Truth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2103120" y="141732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4F8E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Scan</a:t>
            </a:r>
            <a:endParaRPr lang="en-US" sz="6000" dirty="0"/>
          </a:p>
        </p:txBody>
      </p:sp>
      <p:sp>
        <p:nvSpPr>
          <p:cNvPr id="8" name="Shape 6"/>
          <p:cNvSpPr/>
          <p:nvPr/>
        </p:nvSpPr>
        <p:spPr>
          <a:xfrm>
            <a:off x="457200" y="2423160"/>
            <a:ext cx="3657600" cy="27432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5146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Fake News Detection using NLP &amp; AI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971800"/>
            <a:ext cx="1005840" cy="201168"/>
          </a:xfrm>
          <a:prstGeom prst="rect">
            <a:avLst/>
          </a:prstGeom>
          <a:solidFill>
            <a:srgbClr val="0F1E38">
              <a:alpha val="50000"/>
            </a:srgbClr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2064" y="2990088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spc="100" kern="0" dirty="0">
                <a:solidFill>
                  <a:srgbClr val="4F8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NLP ANALYSIS</a:t>
            </a:r>
            <a:endParaRPr lang="en-US" sz="650" dirty="0"/>
          </a:p>
        </p:txBody>
      </p:sp>
      <p:sp>
        <p:nvSpPr>
          <p:cNvPr id="12" name="Shape 10"/>
          <p:cNvSpPr/>
          <p:nvPr/>
        </p:nvSpPr>
        <p:spPr>
          <a:xfrm>
            <a:off x="1828800" y="2971800"/>
            <a:ext cx="800100" cy="201168"/>
          </a:xfrm>
          <a:prstGeom prst="rect">
            <a:avLst/>
          </a:prstGeom>
          <a:solidFill>
            <a:srgbClr val="0F1E38">
              <a:alpha val="50000"/>
            </a:srgbClr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83664" y="2990088"/>
            <a:ext cx="7086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spc="100" kern="0" dirty="0">
                <a:solidFill>
                  <a:srgbClr val="4F8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 AI</a:t>
            </a:r>
            <a:endParaRPr lang="en-US" sz="650" dirty="0"/>
          </a:p>
        </p:txBody>
      </p:sp>
      <p:sp>
        <p:nvSpPr>
          <p:cNvPr id="14" name="Shape 12"/>
          <p:cNvSpPr/>
          <p:nvPr/>
        </p:nvSpPr>
        <p:spPr>
          <a:xfrm>
            <a:off x="3017520" y="2971800"/>
            <a:ext cx="1485900" cy="201168"/>
          </a:xfrm>
          <a:prstGeom prst="rect">
            <a:avLst/>
          </a:prstGeom>
          <a:solidFill>
            <a:srgbClr val="0F1E38">
              <a:alpha val="50000"/>
            </a:srgbClr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72384" y="2990088"/>
            <a:ext cx="13944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spc="100" kern="0" dirty="0">
                <a:solidFill>
                  <a:srgbClr val="4F8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ZERO DATA RETENTION</a:t>
            </a:r>
            <a:endParaRPr lang="en-US" sz="650" dirty="0"/>
          </a:p>
        </p:txBody>
      </p:sp>
      <p:sp>
        <p:nvSpPr>
          <p:cNvPr id="16" name="Shape 14"/>
          <p:cNvSpPr/>
          <p:nvPr/>
        </p:nvSpPr>
        <p:spPr>
          <a:xfrm>
            <a:off x="365760" y="3840480"/>
            <a:ext cx="4114800" cy="1645920"/>
          </a:xfrm>
          <a:prstGeom prst="rect">
            <a:avLst>
              <a:gd name="adj" fmla="val 4444"/>
            </a:avLst>
          </a:prstGeom>
          <a:solidFill>
            <a:srgbClr val="0F1E38"/>
          </a:solidFill>
          <a:ln w="12700">
            <a:solidFill>
              <a:srgbClr val="152644">
                <a:alpha val="4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39776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300" kern="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SUBMITTED BY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594360" y="42062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EF2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Vyshnavi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94360" y="45262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B.Tech CSE (Data Science)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94360" y="475488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Dhanekula Institute of Engineering &amp; Technology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94360" y="49834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Vijayawada, Andhra Pradesh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858000" y="182880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000000"/>
                </a:solidFill>
              </a:rPr>
              <a:t>🔍</a:t>
            </a:r>
            <a:endParaRPr lang="en-US" sz="7200" dirty="0"/>
          </a:p>
        </p:txBody>
      </p:sp>
      <p:sp>
        <p:nvSpPr>
          <p:cNvPr id="23" name="Text 21"/>
          <p:cNvSpPr/>
          <p:nvPr/>
        </p:nvSpPr>
        <p:spPr>
          <a:xfrm>
            <a:off x="5120640" y="338328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300" kern="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FEATURES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5120640" y="3703320"/>
            <a:ext cx="3108960" cy="530352"/>
          </a:xfrm>
          <a:prstGeom prst="rect">
            <a:avLst>
              <a:gd name="adj" fmla="val 13793"/>
            </a:avLst>
          </a:prstGeom>
          <a:solidFill>
            <a:srgbClr val="0A1628"/>
          </a:solidFill>
          <a:ln w="12700">
            <a:solidFill>
              <a:srgbClr val="152644">
                <a:alpha val="4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57800" y="3822192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EF2FF"/>
                </a:solidFill>
              </a:rPr>
              <a:t>→  Instant NLP signal analysis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120640" y="4361688"/>
            <a:ext cx="3108960" cy="530352"/>
          </a:xfrm>
          <a:prstGeom prst="rect">
            <a:avLst>
              <a:gd name="adj" fmla="val 13793"/>
            </a:avLst>
          </a:prstGeom>
          <a:solidFill>
            <a:srgbClr val="0A1628"/>
          </a:solidFill>
          <a:ln w="12700">
            <a:solidFill>
              <a:srgbClr val="152644">
                <a:alpha val="4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57800" y="448056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EF2FF"/>
                </a:solidFill>
              </a:rPr>
              <a:t>→  Claude AI deep review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120640" y="5020056"/>
            <a:ext cx="3108960" cy="530352"/>
          </a:xfrm>
          <a:prstGeom prst="rect">
            <a:avLst>
              <a:gd name="adj" fmla="val 13793"/>
            </a:avLst>
          </a:prstGeom>
          <a:solidFill>
            <a:srgbClr val="0A1628"/>
          </a:solidFill>
          <a:ln w="12700">
            <a:solidFill>
              <a:srgbClr val="152644">
                <a:alpha val="4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257800" y="5138928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EF2FF"/>
                </a:solidFill>
              </a:rPr>
              <a:t>→  Confidence score gauge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120640" y="5678424"/>
            <a:ext cx="3108960" cy="530352"/>
          </a:xfrm>
          <a:prstGeom prst="rect">
            <a:avLst>
              <a:gd name="adj" fmla="val 13793"/>
            </a:avLst>
          </a:prstGeom>
          <a:solidFill>
            <a:srgbClr val="0A1628"/>
          </a:solidFill>
          <a:ln w="12700">
            <a:solidFill>
              <a:srgbClr val="152644">
                <a:alpha val="4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257800" y="5797296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EF2FF"/>
                </a:solidFill>
              </a:rPr>
              <a:t>→  Session history &amp; analytics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8503920" y="3703320"/>
            <a:ext cx="3108960" cy="530352"/>
          </a:xfrm>
          <a:prstGeom prst="rect">
            <a:avLst>
              <a:gd name="adj" fmla="val 13793"/>
            </a:avLst>
          </a:prstGeom>
          <a:solidFill>
            <a:srgbClr val="0A1628"/>
          </a:solidFill>
          <a:ln w="12700">
            <a:solidFill>
              <a:srgbClr val="152644">
                <a:alpha val="4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641080" y="3822192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EF2FF"/>
                </a:solidFill>
              </a:rPr>
              <a:t>→  Export reports (Copy / JSON)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8503920" y="4361688"/>
            <a:ext cx="3108960" cy="530352"/>
          </a:xfrm>
          <a:prstGeom prst="rect">
            <a:avLst>
              <a:gd name="adj" fmla="val 13793"/>
            </a:avLst>
          </a:prstGeom>
          <a:solidFill>
            <a:srgbClr val="0A1628"/>
          </a:solidFill>
          <a:ln w="12700">
            <a:solidFill>
              <a:srgbClr val="152644">
                <a:alpha val="4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641080" y="448056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EF2FF"/>
                </a:solidFill>
              </a:rPr>
              <a:t>→  Dark &amp; light mode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8503920" y="5020056"/>
            <a:ext cx="3108960" cy="530352"/>
          </a:xfrm>
          <a:prstGeom prst="rect">
            <a:avLst>
              <a:gd name="adj" fmla="val 13793"/>
            </a:avLst>
          </a:prstGeom>
          <a:solidFill>
            <a:srgbClr val="0A1628"/>
          </a:solidFill>
          <a:ln w="12700">
            <a:solidFill>
              <a:srgbClr val="152644">
                <a:alpha val="4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641080" y="5138928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EF2FF"/>
                </a:solidFill>
              </a:rPr>
              <a:t>→  Fully responsive design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8503920" y="5678424"/>
            <a:ext cx="3108960" cy="530352"/>
          </a:xfrm>
          <a:prstGeom prst="rect">
            <a:avLst>
              <a:gd name="adj" fmla="val 13793"/>
            </a:avLst>
          </a:prstGeom>
          <a:solidFill>
            <a:srgbClr val="0A1628"/>
          </a:solidFill>
          <a:ln w="12700">
            <a:solidFill>
              <a:srgbClr val="152644">
                <a:alpha val="4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641080" y="5797296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EF2FF"/>
                </a:solidFill>
              </a:rPr>
              <a:t>→  Zero server — fully private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50B18"/>
          </a:solidFill>
          <a:ln w="12700">
            <a:solidFill>
              <a:srgbClr val="050B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300" kern="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02 / 12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EF2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Statement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3474720" cy="1463040"/>
          </a:xfrm>
          <a:prstGeom prst="rect">
            <a:avLst>
              <a:gd name="adj" fmla="val 5000"/>
            </a:avLst>
          </a:prstGeom>
          <a:solidFill>
            <a:srgbClr val="0A1628"/>
          </a:solidFill>
          <a:ln w="12700">
            <a:solidFill>
              <a:srgbClr val="152644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097280"/>
            <a:ext cx="3474720" cy="457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28016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3.8B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548640" y="192024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Social media users exposed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to misinformation daily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297680" y="1097280"/>
            <a:ext cx="3474720" cy="1463040"/>
          </a:xfrm>
          <a:prstGeom prst="rect">
            <a:avLst>
              <a:gd name="adj" fmla="val 5000"/>
            </a:avLst>
          </a:prstGeom>
          <a:solidFill>
            <a:srgbClr val="0A1628"/>
          </a:solidFill>
          <a:ln w="12700">
            <a:solidFill>
              <a:srgbClr val="152644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97680" y="1097280"/>
            <a:ext cx="3474720" cy="45720"/>
          </a:xfrm>
          <a:prstGeom prst="rect">
            <a:avLst/>
          </a:prstGeom>
          <a:solidFill>
            <a:srgbClr val="F5C542"/>
          </a:solidFill>
          <a:ln w="12700">
            <a:solidFill>
              <a:srgbClr val="F5C54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0" y="128016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5C5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76%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4389120" y="192024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People unable to identify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fake news consistently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138160" y="1097280"/>
            <a:ext cx="3474720" cy="1463040"/>
          </a:xfrm>
          <a:prstGeom prst="rect">
            <a:avLst>
              <a:gd name="adj" fmla="val 5000"/>
            </a:avLst>
          </a:prstGeom>
          <a:solidFill>
            <a:srgbClr val="0A1628"/>
          </a:solidFill>
          <a:ln w="12700">
            <a:solidFill>
              <a:srgbClr val="152644">
                <a:alpha val="4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38160" y="1097280"/>
            <a:ext cx="3474720" cy="4572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0" y="128016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4F8E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70%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8229600" y="192024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Faster spread of fake news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vs real news (MIT Study)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27889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300" kern="0" dirty="0">
                <a:solidFill>
                  <a:srgbClr val="4F8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CURRENT CHALLENGES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457200" y="3108960"/>
            <a:ext cx="5394960" cy="1234440"/>
          </a:xfrm>
          <a:prstGeom prst="rect">
            <a:avLst>
              <a:gd name="adj" fmla="val 5926"/>
            </a:avLst>
          </a:prstGeom>
          <a:solidFill>
            <a:srgbClr val="0A1628"/>
          </a:solidFill>
          <a:ln w="12700">
            <a:solidFill>
              <a:srgbClr val="152644">
                <a:alpha val="4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3246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F4444"/>
                </a:solidFill>
              </a:rPr>
              <a:t>✕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051560" y="324612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EF2FF"/>
                </a:solidFill>
              </a:rPr>
              <a:t>Manual fact-checking is SLOW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51560" y="356616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Takes hours to days; news spreads in seconds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217920" y="3108960"/>
            <a:ext cx="5394960" cy="1234440"/>
          </a:xfrm>
          <a:prstGeom prst="rect">
            <a:avLst>
              <a:gd name="adj" fmla="val 5926"/>
            </a:avLst>
          </a:prstGeom>
          <a:solidFill>
            <a:srgbClr val="0A1628"/>
          </a:solidFill>
          <a:ln w="12700">
            <a:solidFill>
              <a:srgbClr val="152644">
                <a:alpha val="4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0" y="3246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F4444"/>
                </a:solidFill>
              </a:rPr>
              <a:t>✕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812280" y="324612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EF2FF"/>
                </a:solidFill>
              </a:rPr>
              <a:t>Existing tools lack TRANSPARENCY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812280" y="356616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No explanation of why an article is flagged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4526280"/>
            <a:ext cx="5394960" cy="1234440"/>
          </a:xfrm>
          <a:prstGeom prst="rect">
            <a:avLst>
              <a:gd name="adj" fmla="val 5926"/>
            </a:avLst>
          </a:prstGeom>
          <a:solidFill>
            <a:srgbClr val="0A1628"/>
          </a:solidFill>
          <a:ln w="12700">
            <a:solidFill>
              <a:srgbClr val="152644">
                <a:alpha val="4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F4444"/>
                </a:solidFill>
              </a:rPr>
              <a:t>✕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51560" y="466344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EF2FF"/>
                </a:solidFill>
              </a:rPr>
              <a:t>No REAL-TIME solution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051560" y="498348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Readers need instant verification while reading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217920" y="4526280"/>
            <a:ext cx="5394960" cy="1234440"/>
          </a:xfrm>
          <a:prstGeom prst="rect">
            <a:avLst>
              <a:gd name="adj" fmla="val 5926"/>
            </a:avLst>
          </a:prstGeom>
          <a:solidFill>
            <a:srgbClr val="0A1628"/>
          </a:solidFill>
          <a:ln w="12700">
            <a:solidFill>
              <a:srgbClr val="152644">
                <a:alpha val="4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F4444"/>
                </a:solidFill>
              </a:rPr>
              <a:t>✕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6812280" y="466344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EF2FF"/>
                </a:solidFill>
              </a:rPr>
              <a:t>PRIVACY concerns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812280" y="498348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Many tools upload article text to external servers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50B18"/>
          </a:solidFill>
          <a:ln w="12700">
            <a:solidFill>
              <a:srgbClr val="050B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300" kern="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03 / 12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EF2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Existing Systems &amp; Limitations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11247120" cy="411480"/>
          </a:xfrm>
          <a:prstGeom prst="rect">
            <a:avLst>
              <a:gd name="adj" fmla="val 17778"/>
            </a:avLst>
          </a:prstGeom>
          <a:solidFill>
            <a:srgbClr val="0F1E38"/>
          </a:solidFill>
          <a:ln w="12700">
            <a:solidFill>
              <a:srgbClr val="152644">
                <a:alpha val="4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16128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4F8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 / Method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468880" y="116128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4F8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Speed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343400" y="116128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4F8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Transparency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217920" y="116128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4F8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Privacy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092440" y="116128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4F8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Accuracy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9966960" y="116128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4F8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Availability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1536192"/>
            <a:ext cx="11247120" cy="731520"/>
          </a:xfrm>
          <a:prstGeom prst="rect">
            <a:avLst>
              <a:gd name="adj" fmla="val 10000"/>
            </a:avLst>
          </a:prstGeom>
          <a:solidFill>
            <a:srgbClr val="0A1628"/>
          </a:solidFill>
          <a:ln w="12700">
            <a:solidFill>
              <a:srgbClr val="152644">
                <a:alpha val="4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173736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Snopes / PolitiFact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468880" y="173736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❌ Slow (hours)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343400" y="173736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✅ Good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217920" y="173736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✅ Good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8092440" y="173736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✅ High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9966960" y="173736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❌ Manual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" y="2359152"/>
            <a:ext cx="11247120" cy="731520"/>
          </a:xfrm>
          <a:prstGeom prst="rect">
            <a:avLst>
              <a:gd name="adj" fmla="val 10000"/>
            </a:avLst>
          </a:prstGeom>
          <a:solidFill>
            <a:srgbClr val="0A1628"/>
          </a:solidFill>
          <a:ln w="12700">
            <a:solidFill>
              <a:srgbClr val="152644">
                <a:alpha val="4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256032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Google Fact Check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468880" y="256032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⚠️ Medium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343400" y="256032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⚠️ Partial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217920" y="256032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✅ Good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8092440" y="256032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⚠️ Medium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9966960" y="256032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⚠️ Limited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57200" y="3182112"/>
            <a:ext cx="11247120" cy="731520"/>
          </a:xfrm>
          <a:prstGeom prst="rect">
            <a:avLst>
              <a:gd name="adj" fmla="val 10000"/>
            </a:avLst>
          </a:prstGeom>
          <a:solidFill>
            <a:srgbClr val="0A1628"/>
          </a:solidFill>
          <a:ln w="12700">
            <a:solidFill>
              <a:srgbClr val="152644">
                <a:alpha val="4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4360" y="338328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ML/BERT Models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2468880" y="338328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✅ Fast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343400" y="338328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❌ Blackbox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217920" y="338328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❌ Data sent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8092440" y="338328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✅ High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9966960" y="338328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❌ Technical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57200" y="4005072"/>
            <a:ext cx="11247120" cy="731520"/>
          </a:xfrm>
          <a:prstGeom prst="rect">
            <a:avLst>
              <a:gd name="adj" fmla="val 10000"/>
            </a:avLst>
          </a:prstGeom>
          <a:solidFill>
            <a:srgbClr val="0A1628"/>
          </a:solidFill>
          <a:ln w="12700">
            <a:solidFill>
              <a:srgbClr val="152644">
                <a:alpha val="4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94360" y="420624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Browser Extensions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2468880" y="420624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✅ Instant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343400" y="420624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❌ None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217920" y="420624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⚠️ Varies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8092440" y="420624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❌ Low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9966960" y="420624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⚠️ Limited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57200" y="4828032"/>
            <a:ext cx="11247120" cy="731520"/>
          </a:xfrm>
          <a:prstGeom prst="rect">
            <a:avLst>
              <a:gd name="adj" fmla="val 10000"/>
            </a:avLst>
          </a:prstGeom>
          <a:solidFill>
            <a:srgbClr val="1A3050"/>
          </a:solidFill>
          <a:ln w="12700">
            <a:solidFill>
              <a:srgbClr val="152644">
                <a:alpha val="4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57200" y="4828032"/>
            <a:ext cx="54864" cy="73152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94360" y="502920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EF2FF"/>
                </a:solidFill>
              </a:rPr>
              <a:t>TruthScan (ours)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2468880" y="502920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EF2FF"/>
                </a:solidFill>
              </a:rPr>
              <a:t>✅ Instant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4343400" y="502920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EF2FF"/>
                </a:solidFill>
              </a:rPr>
              <a:t>✅ Full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6217920" y="502920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EF2FF"/>
                </a:solidFill>
              </a:rPr>
              <a:t>✅ Zero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8092440" y="502920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EF2FF"/>
                </a:solidFill>
              </a:rPr>
              <a:t>⚠️ Heuristic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9966960" y="502920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EF2FF"/>
                </a:solidFill>
              </a:rPr>
              <a:t>✅ Free / Open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594360" y="57150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F8EF7"/>
                </a:solidFill>
              </a:rPr>
              <a:t>Our Advantage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594360" y="59893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TruthScan is the only solution that combines instant analysis, full explainability, and complete privacy in one free, open browser app.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50B18"/>
          </a:solidFill>
          <a:ln w="12700">
            <a:solidFill>
              <a:srgbClr val="050B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300" kern="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04 / 12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EF2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Proposed Solution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2103120" cy="1828800"/>
          </a:xfrm>
          <a:prstGeom prst="rect">
            <a:avLst>
              <a:gd name="adj" fmla="val 4000"/>
            </a:avLst>
          </a:prstGeom>
          <a:solidFill>
            <a:srgbClr val="0A1628"/>
          </a:solidFill>
          <a:ln w="12700">
            <a:solidFill>
              <a:srgbClr val="152644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88720"/>
            <a:ext cx="2103120" cy="54864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29844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F8E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48640" y="16916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EF2FF"/>
                </a:solidFill>
              </a:rPr>
              <a:t>User Input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20116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Paste article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text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560320" y="182880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475569"/>
                </a:solidFill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2788920" y="1188720"/>
            <a:ext cx="2103120" cy="1828800"/>
          </a:xfrm>
          <a:prstGeom prst="rect">
            <a:avLst>
              <a:gd name="adj" fmla="val 4000"/>
            </a:avLst>
          </a:prstGeom>
          <a:solidFill>
            <a:srgbClr val="0A1628"/>
          </a:solidFill>
          <a:ln w="12700">
            <a:solidFill>
              <a:srgbClr val="152644">
                <a:alpha val="4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88920" y="1188720"/>
            <a:ext cx="2103120" cy="54864"/>
          </a:xfrm>
          <a:prstGeom prst="rect">
            <a:avLst/>
          </a:prstGeom>
          <a:solidFill>
            <a:srgbClr val="F5C542"/>
          </a:solidFill>
          <a:ln w="12700">
            <a:solidFill>
              <a:srgbClr val="F5C54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80360" y="129844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C5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880360" y="16916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EF2FF"/>
                </a:solidFill>
              </a:rPr>
              <a:t>NLP Engine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880360" y="20116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Score risk &amp;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evidence signals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892040" y="182880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475569"/>
                </a:solidFill>
              </a:rPr>
              <a:t>→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5120640" y="1188720"/>
            <a:ext cx="2103120" cy="1828800"/>
          </a:xfrm>
          <a:prstGeom prst="rect">
            <a:avLst>
              <a:gd name="adj" fmla="val 4000"/>
            </a:avLst>
          </a:prstGeom>
          <a:solidFill>
            <a:srgbClr val="0A1628"/>
          </a:solidFill>
          <a:ln w="12700">
            <a:solidFill>
              <a:srgbClr val="152644">
                <a:alpha val="4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120640" y="1188720"/>
            <a:ext cx="2103120" cy="54864"/>
          </a:xfrm>
          <a:prstGeom prst="rect">
            <a:avLst/>
          </a:prstGeom>
          <a:solidFill>
            <a:srgbClr val="9B59F5"/>
          </a:solidFill>
          <a:ln w="12700">
            <a:solidFill>
              <a:srgbClr val="9B59F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12080" y="129844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B59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212080" y="16916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EF2FF"/>
                </a:solidFill>
              </a:rPr>
              <a:t>AI Analysis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212080" y="20116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Claude deep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review (optional)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7223760" y="182880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475569"/>
                </a:solidFill>
              </a:rPr>
              <a:t>→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7452360" y="1188720"/>
            <a:ext cx="2103120" cy="1828800"/>
          </a:xfrm>
          <a:prstGeom prst="rect">
            <a:avLst>
              <a:gd name="adj" fmla="val 4000"/>
            </a:avLst>
          </a:prstGeom>
          <a:solidFill>
            <a:srgbClr val="0A1628"/>
          </a:solidFill>
          <a:ln w="12700">
            <a:solidFill>
              <a:srgbClr val="152644">
                <a:alpha val="4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452360" y="1188720"/>
            <a:ext cx="2103120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43800" y="129844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C5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7543800" y="16916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EF2FF"/>
                </a:solidFill>
              </a:rPr>
              <a:t>Verdict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543800" y="20116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Credible or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Disputed + score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9555480" y="182880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475569"/>
                </a:solidFill>
              </a:rPr>
              <a:t>→</a:t>
            </a:r>
            <a:endParaRPr lang="en-US" sz="2200" dirty="0"/>
          </a:p>
        </p:txBody>
      </p:sp>
      <p:sp>
        <p:nvSpPr>
          <p:cNvPr id="30" name="Shape 28"/>
          <p:cNvSpPr/>
          <p:nvPr/>
        </p:nvSpPr>
        <p:spPr>
          <a:xfrm>
            <a:off x="9784080" y="1188720"/>
            <a:ext cx="2103120" cy="1828800"/>
          </a:xfrm>
          <a:prstGeom prst="rect">
            <a:avLst>
              <a:gd name="adj" fmla="val 4000"/>
            </a:avLst>
          </a:prstGeom>
          <a:solidFill>
            <a:srgbClr val="0A1628"/>
          </a:solidFill>
          <a:ln w="12700">
            <a:solidFill>
              <a:srgbClr val="152644">
                <a:alpha val="4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784080" y="1188720"/>
            <a:ext cx="2103120" cy="54864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875520" y="129844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F8E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9875520" y="16916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EF2FF"/>
                </a:solidFill>
              </a:rPr>
              <a:t>Report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9875520" y="20116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Export copy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or JSON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57200" y="329184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300" kern="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 INNOVATIONS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457200" y="3611880"/>
            <a:ext cx="5486400" cy="1097280"/>
          </a:xfrm>
          <a:prstGeom prst="rect">
            <a:avLst>
              <a:gd name="adj" fmla="val 6667"/>
            </a:avLst>
          </a:prstGeom>
          <a:solidFill>
            <a:srgbClr val="0A1628"/>
          </a:solidFill>
          <a:ln w="12700">
            <a:solidFill>
              <a:srgbClr val="152644">
                <a:alpha val="4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0080" y="3703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🔒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1188720" y="370332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EF2FF"/>
                </a:solidFill>
              </a:rPr>
              <a:t>Zero Privacy Risk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188720" y="4005072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Runs 100% in browser — no article text ever sent to a server (unless user opts in to AI)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309360" y="3611880"/>
            <a:ext cx="5486400" cy="1097280"/>
          </a:xfrm>
          <a:prstGeom prst="rect">
            <a:avLst>
              <a:gd name="adj" fmla="val 6667"/>
            </a:avLst>
          </a:prstGeom>
          <a:solidFill>
            <a:srgbClr val="0A1628"/>
          </a:solidFill>
          <a:ln w="12700">
            <a:solidFill>
              <a:srgbClr val="152644">
                <a:alpha val="40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92240" y="3703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💡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7040880" y="370332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EF2FF"/>
                </a:solidFill>
              </a:rPr>
              <a:t>Explainability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7040880" y="4005072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Every verdict includes a linguistic justification — users understand WHY, not just WHAT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57200" y="4892040"/>
            <a:ext cx="5486400" cy="1097280"/>
          </a:xfrm>
          <a:prstGeom prst="rect">
            <a:avLst>
              <a:gd name="adj" fmla="val 6667"/>
            </a:avLst>
          </a:prstGeom>
          <a:solidFill>
            <a:srgbClr val="0A1628"/>
          </a:solidFill>
          <a:ln w="12700">
            <a:solidFill>
              <a:srgbClr val="152644">
                <a:alpha val="40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0080" y="4983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46" name="Text 44"/>
          <p:cNvSpPr/>
          <p:nvPr/>
        </p:nvSpPr>
        <p:spPr>
          <a:xfrm>
            <a:off x="1188720" y="498348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EF2FF"/>
                </a:solidFill>
              </a:rPr>
              <a:t>Instant Analysis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1188720" y="5285232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NLP analysis runs in &lt;1ms on device; no waiting for a server round-trip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6309360" y="4892040"/>
            <a:ext cx="5486400" cy="1097280"/>
          </a:xfrm>
          <a:prstGeom prst="rect">
            <a:avLst>
              <a:gd name="adj" fmla="val 6667"/>
            </a:avLst>
          </a:prstGeom>
          <a:solidFill>
            <a:srgbClr val="0A1628"/>
          </a:solidFill>
          <a:ln w="12700">
            <a:solidFill>
              <a:srgbClr val="152644">
                <a:alpha val="4000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492240" y="4983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50" name="Text 48"/>
          <p:cNvSpPr/>
          <p:nvPr/>
        </p:nvSpPr>
        <p:spPr>
          <a:xfrm>
            <a:off x="7040880" y="498348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EF2FF"/>
                </a:solidFill>
              </a:rPr>
              <a:t>Optional AI Depth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7040880" y="5285232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Claude AI provides expert-level contextual review beyond pattern matching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50B18"/>
          </a:solidFill>
          <a:ln w="12700">
            <a:solidFill>
              <a:srgbClr val="050B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F5C542"/>
          </a:solidFill>
          <a:ln w="12700">
            <a:solidFill>
              <a:srgbClr val="F5C5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300" kern="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05 / 12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EF2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Objectives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5486400" cy="1554480"/>
          </a:xfrm>
          <a:prstGeom prst="rect">
            <a:avLst>
              <a:gd name="adj" fmla="val 4706"/>
            </a:avLst>
          </a:prstGeom>
          <a:solidFill>
            <a:srgbClr val="0A1628"/>
          </a:solidFill>
          <a:ln w="12700">
            <a:solidFill>
              <a:srgbClr val="152644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43000"/>
            <a:ext cx="54864" cy="155448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23444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F8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234440" y="123444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EF2FF"/>
                </a:solidFill>
              </a:rPr>
              <a:t>Instant Detection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34440" y="1572768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Provide real-time fake news classification in under 1 second, directly in the browser without any server dependency.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309360" y="1143000"/>
            <a:ext cx="5486400" cy="1554480"/>
          </a:xfrm>
          <a:prstGeom prst="rect">
            <a:avLst>
              <a:gd name="adj" fmla="val 4706"/>
            </a:avLst>
          </a:prstGeom>
          <a:solidFill>
            <a:srgbClr val="0A1628"/>
          </a:solidFill>
          <a:ln w="12700">
            <a:solidFill>
              <a:srgbClr val="152644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09360" y="1143000"/>
            <a:ext cx="54864" cy="1554480"/>
          </a:xfrm>
          <a:prstGeom prst="rect">
            <a:avLst/>
          </a:prstGeom>
          <a:solidFill>
            <a:srgbClr val="F5C542"/>
          </a:solidFill>
          <a:ln w="12700">
            <a:solidFill>
              <a:srgbClr val="F5C54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123444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7086600" y="123444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EF2FF"/>
                </a:solidFill>
              </a:rPr>
              <a:t>Explainable AI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086600" y="1572768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Ensure every verdict includes a clear explanation of which linguistic signals influenced the classification.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2880360"/>
            <a:ext cx="5486400" cy="1554480"/>
          </a:xfrm>
          <a:prstGeom prst="rect">
            <a:avLst>
              <a:gd name="adj" fmla="val 4706"/>
            </a:avLst>
          </a:prstGeom>
          <a:solidFill>
            <a:srgbClr val="0A1628"/>
          </a:solidFill>
          <a:ln w="12700">
            <a:solidFill>
              <a:srgbClr val="152644">
                <a:alpha val="4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2880360"/>
            <a:ext cx="54864" cy="155448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297180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234440" y="297180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EF2FF"/>
                </a:solidFill>
              </a:rPr>
              <a:t>Privacy-First Design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234440" y="3310128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Process all article text locally — no user data transmitted to external servers without explicit consent.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309360" y="2880360"/>
            <a:ext cx="5486400" cy="1554480"/>
          </a:xfrm>
          <a:prstGeom prst="rect">
            <a:avLst>
              <a:gd name="adj" fmla="val 4706"/>
            </a:avLst>
          </a:prstGeom>
          <a:solidFill>
            <a:srgbClr val="0A1628"/>
          </a:solidFill>
          <a:ln w="12700">
            <a:solidFill>
              <a:srgbClr val="152644">
                <a:alpha val="4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09360" y="2880360"/>
            <a:ext cx="54864" cy="1554480"/>
          </a:xfrm>
          <a:prstGeom prst="rect">
            <a:avLst/>
          </a:prstGeom>
          <a:solidFill>
            <a:srgbClr val="9B59F5"/>
          </a:solidFill>
          <a:ln w="12700">
            <a:solidFill>
              <a:srgbClr val="9B59F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92240" y="297180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9B5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7086600" y="297180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EF2FF"/>
                </a:solidFill>
              </a:rPr>
              <a:t>AI Augmentation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086600" y="3310128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Integrate Claude AI for deep contextual analysis beyond pattern matching, available as an optional enhancement.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57200" y="4617720"/>
            <a:ext cx="5486400" cy="1554480"/>
          </a:xfrm>
          <a:prstGeom prst="rect">
            <a:avLst>
              <a:gd name="adj" fmla="val 4706"/>
            </a:avLst>
          </a:prstGeom>
          <a:solidFill>
            <a:srgbClr val="0A1628"/>
          </a:solidFill>
          <a:ln w="12700">
            <a:solidFill>
              <a:srgbClr val="152644">
                <a:alpha val="4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4617720"/>
            <a:ext cx="54864" cy="155448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470916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F8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1234440" y="470916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EF2FF"/>
                </a:solidFill>
              </a:rPr>
              <a:t>Professional UX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234440" y="5047488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Build a polished, responsive, accessible interface suitable for journalists, students, and general public.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309360" y="4617720"/>
            <a:ext cx="5486400" cy="1554480"/>
          </a:xfrm>
          <a:prstGeom prst="rect">
            <a:avLst>
              <a:gd name="adj" fmla="val 4706"/>
            </a:avLst>
          </a:prstGeom>
          <a:solidFill>
            <a:srgbClr val="0A1628"/>
          </a:solidFill>
          <a:ln w="12700">
            <a:solidFill>
              <a:srgbClr val="152644">
                <a:alpha val="4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309360" y="4617720"/>
            <a:ext cx="54864" cy="1554480"/>
          </a:xfrm>
          <a:prstGeom prst="rect">
            <a:avLst/>
          </a:prstGeom>
          <a:solidFill>
            <a:srgbClr val="F5C542"/>
          </a:solidFill>
          <a:ln w="12700">
            <a:solidFill>
              <a:srgbClr val="F5C54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92240" y="470916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7086600" y="470916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EF2FF"/>
                </a:solidFill>
              </a:rPr>
              <a:t>Open &amp; Free Access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7086600" y="5047488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Deliver the tool as a single-file HTML application deployable on GitHub Pages — free, open, zero infrastructure cost.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50B18"/>
          </a:solidFill>
          <a:ln w="12700">
            <a:solidFill>
              <a:srgbClr val="050B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9B59F5"/>
          </a:solidFill>
          <a:ln w="12700">
            <a:solidFill>
              <a:srgbClr val="9B59F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300" kern="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06 / 12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EF2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Technologies Used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5486400" cy="2423160"/>
          </a:xfrm>
          <a:prstGeom prst="rect">
            <a:avLst>
              <a:gd name="adj" fmla="val 3019"/>
            </a:avLst>
          </a:prstGeom>
          <a:solidFill>
            <a:srgbClr val="0A1628"/>
          </a:solidFill>
          <a:ln w="12700">
            <a:solidFill>
              <a:srgbClr val="152644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43000"/>
            <a:ext cx="5486400" cy="54864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2344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300" kern="0" dirty="0">
                <a:solidFill>
                  <a:srgbClr val="4F8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FRONTEND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640080" y="1572768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F8EF7"/>
                </a:solidFill>
              </a:rPr>
              <a:t>■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914400" y="15727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EF2FF"/>
                </a:solidFill>
              </a:rPr>
              <a:t>HTML5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788920" y="1572768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Semantic structure, ARIA accessibility, PWA manifest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0080" y="2167128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F8EF7"/>
                </a:solidFill>
              </a:rPr>
              <a:t>■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914400" y="21671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EF2FF"/>
                </a:solidFill>
              </a:rPr>
              <a:t>CSS3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788920" y="2167128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Custom properties, Grid, Flexbox, animations, glassmorphism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40080" y="2761488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F8EF7"/>
                </a:solidFill>
              </a:rPr>
              <a:t>■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914400" y="276148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EF2FF"/>
                </a:solidFill>
              </a:rPr>
              <a:t>JavaScript ES6+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788920" y="2761488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Modules, async/await, DOM APIs, sessionStorage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309360" y="1143000"/>
            <a:ext cx="5486400" cy="2423160"/>
          </a:xfrm>
          <a:prstGeom prst="rect">
            <a:avLst>
              <a:gd name="adj" fmla="val 3019"/>
            </a:avLst>
          </a:prstGeom>
          <a:solidFill>
            <a:srgbClr val="0A1628"/>
          </a:solidFill>
          <a:ln w="12700">
            <a:solidFill>
              <a:srgbClr val="152644">
                <a:alpha val="4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09360" y="1143000"/>
            <a:ext cx="5486400" cy="54864"/>
          </a:xfrm>
          <a:prstGeom prst="rect">
            <a:avLst/>
          </a:prstGeom>
          <a:solidFill>
            <a:srgbClr val="9B59F5"/>
          </a:solidFill>
          <a:ln w="12700">
            <a:solidFill>
              <a:srgbClr val="9B59F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92240" y="12344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300" kern="0" dirty="0">
                <a:solidFill>
                  <a:srgbClr val="9B5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 &amp; NLP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6492240" y="1572768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B59F5"/>
                </a:solidFill>
              </a:rPr>
              <a:t>■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766560" y="15727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EF2FF"/>
                </a:solidFill>
              </a:rPr>
              <a:t>Claude API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641080" y="1572768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claude-sonnet-4-6 model for deep credibility analysis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492240" y="2167128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B59F5"/>
                </a:solidFill>
              </a:rPr>
              <a:t>■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766560" y="21671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EF2FF"/>
                </a:solidFill>
              </a:rPr>
              <a:t>NLP Heuristics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641080" y="2167128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Weighted keyword scoring, Flesch-Kincaid readability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492240" y="2761488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B59F5"/>
                </a:solidFill>
              </a:rPr>
              <a:t>■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766560" y="276148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EF2FF"/>
                </a:solidFill>
              </a:rPr>
              <a:t>Pattern Matching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641080" y="2761488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Regex-based feature extraction for linguistic signals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57200" y="3749040"/>
            <a:ext cx="5486400" cy="2423160"/>
          </a:xfrm>
          <a:prstGeom prst="rect">
            <a:avLst>
              <a:gd name="adj" fmla="val 3019"/>
            </a:avLst>
          </a:prstGeom>
          <a:solidFill>
            <a:srgbClr val="0A1628"/>
          </a:solidFill>
          <a:ln w="12700">
            <a:solidFill>
              <a:srgbClr val="152644">
                <a:alpha val="4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" y="3749040"/>
            <a:ext cx="5486400" cy="54864"/>
          </a:xfrm>
          <a:prstGeom prst="rect">
            <a:avLst/>
          </a:prstGeom>
          <a:solidFill>
            <a:srgbClr val="F5C542"/>
          </a:solidFill>
          <a:ln w="12700">
            <a:solidFill>
              <a:srgbClr val="F5C54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" y="384048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300" kern="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DESIGN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640080" y="4178808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5C542"/>
                </a:solidFill>
              </a:rPr>
              <a:t>■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914400" y="41788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EF2FF"/>
                </a:solidFill>
              </a:rPr>
              <a:t>Playfair Display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2788920" y="4178808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Editorial serif font for authoritative headings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40080" y="4773168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5C542"/>
                </a:solidFill>
              </a:rPr>
              <a:t>■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914400" y="47731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EF2FF"/>
                </a:solidFill>
              </a:rPr>
              <a:t>Inter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2788920" y="4773168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Clean sans-serif for body text and UI elements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40080" y="5367528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5C542"/>
                </a:solidFill>
              </a:rPr>
              <a:t>■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914400" y="53675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EF2FF"/>
                </a:solidFill>
              </a:rPr>
              <a:t>JetBrains Mono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2788920" y="5367528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Monospace for technical labels and data values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309360" y="3749040"/>
            <a:ext cx="5486400" cy="2423160"/>
          </a:xfrm>
          <a:prstGeom prst="rect">
            <a:avLst>
              <a:gd name="adj" fmla="val 3019"/>
            </a:avLst>
          </a:prstGeom>
          <a:solidFill>
            <a:srgbClr val="0A1628"/>
          </a:solidFill>
          <a:ln w="12700">
            <a:solidFill>
              <a:srgbClr val="152644">
                <a:alpha val="40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309360" y="3749040"/>
            <a:ext cx="5486400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92240" y="384048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300" kern="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DEPLOYMENT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6492240" y="4178808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2C55E"/>
                </a:solidFill>
              </a:rPr>
              <a:t>■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6766560" y="41788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EF2FF"/>
                </a:solidFill>
              </a:rPr>
              <a:t>GitHub Pages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8641080" y="4178808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Free static hosting for the single-file HTML app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492240" y="4773168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2C55E"/>
                </a:solidFill>
              </a:rPr>
              <a:t>■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6766560" y="47731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EF2FF"/>
                </a:solidFill>
              </a:rPr>
              <a:t>SessionStorage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8641080" y="4773168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Client-side temporary storage, zero backend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6492240" y="5367528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2C55E"/>
                </a:solidFill>
              </a:rPr>
              <a:t>■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6766560" y="53675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EF2FF"/>
                </a:solidFill>
              </a:rPr>
              <a:t>Zero Dependencies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8641080" y="5367528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No npm packages — pure HTML/CSS/JS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50B18"/>
          </a:solidFill>
          <a:ln w="12700">
            <a:solidFill>
              <a:srgbClr val="050B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300" kern="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07 / 12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EF2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Architecture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11430000" cy="5394960"/>
          </a:xfrm>
          <a:prstGeom prst="rect">
            <a:avLst>
              <a:gd name="adj" fmla="val 1356"/>
            </a:avLst>
          </a:prstGeom>
          <a:solidFill>
            <a:srgbClr val="0A1628"/>
          </a:solidFill>
          <a:ln w="12700">
            <a:solidFill>
              <a:srgbClr val="152644">
                <a:alpha val="4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09728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300" kern="0" dirty="0">
                <a:solidFill>
                  <a:srgbClr val="4F8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BROWSER ENVIRONMENT (CLIENT-SIDE ONLY)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640080" y="1417320"/>
            <a:ext cx="5029200" cy="1737360"/>
          </a:xfrm>
          <a:prstGeom prst="rect">
            <a:avLst>
              <a:gd name="adj" fmla="val 4211"/>
            </a:avLst>
          </a:prstGeom>
          <a:solidFill>
            <a:srgbClr val="0F1E38"/>
          </a:solidFill>
          <a:ln w="12700">
            <a:solidFill>
              <a:srgbClr val="152644">
                <a:alpha val="4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5087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300" kern="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 LAYER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822960" y="1783080"/>
            <a:ext cx="1051560" cy="1143000"/>
          </a:xfrm>
          <a:prstGeom prst="rect">
            <a:avLst>
              <a:gd name="adj" fmla="val 6957"/>
            </a:avLst>
          </a:prstGeom>
          <a:solidFill>
            <a:srgbClr val="050B18"/>
          </a:solidFill>
          <a:ln w="12700">
            <a:solidFill>
              <a:srgbClr val="152644">
                <a:alpha val="4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205740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94A3B8"/>
                </a:solidFill>
              </a:rPr>
              <a:t>Input Panel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011680" y="1783080"/>
            <a:ext cx="1051560" cy="1143000"/>
          </a:xfrm>
          <a:prstGeom prst="rect">
            <a:avLst>
              <a:gd name="adj" fmla="val 6957"/>
            </a:avLst>
          </a:prstGeom>
          <a:solidFill>
            <a:srgbClr val="050B18"/>
          </a:solidFill>
          <a:ln w="12700">
            <a:solidFill>
              <a:srgbClr val="152644">
                <a:alpha val="4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29968" y="205740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94A3B8"/>
                </a:solidFill>
              </a:rPr>
              <a:t>Result Panel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200400" y="1783080"/>
            <a:ext cx="1051560" cy="1143000"/>
          </a:xfrm>
          <a:prstGeom prst="rect">
            <a:avLst>
              <a:gd name="adj" fmla="val 6957"/>
            </a:avLst>
          </a:prstGeom>
          <a:solidFill>
            <a:srgbClr val="050B18"/>
          </a:solidFill>
          <a:ln w="12700">
            <a:solidFill>
              <a:srgbClr val="152644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18688" y="205740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94A3B8"/>
                </a:solidFill>
              </a:rPr>
              <a:t>History Strip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389120" y="1783080"/>
            <a:ext cx="1051560" cy="1143000"/>
          </a:xfrm>
          <a:prstGeom prst="rect">
            <a:avLst>
              <a:gd name="adj" fmla="val 6957"/>
            </a:avLst>
          </a:prstGeom>
          <a:solidFill>
            <a:srgbClr val="050B18"/>
          </a:solidFill>
          <a:ln w="12700">
            <a:solidFill>
              <a:srgbClr val="152644">
                <a:alpha val="4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07408" y="205740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94A3B8"/>
                </a:solidFill>
              </a:rPr>
              <a:t>Analytics Cards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743200" y="32461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475569"/>
                </a:solidFill>
              </a:rPr>
              <a:t>↓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640080" y="3703320"/>
            <a:ext cx="5029200" cy="2103120"/>
          </a:xfrm>
          <a:prstGeom prst="rect">
            <a:avLst>
              <a:gd name="adj" fmla="val 3478"/>
            </a:avLst>
          </a:prstGeom>
          <a:solidFill>
            <a:srgbClr val="0F1E38"/>
          </a:solidFill>
          <a:ln w="12700">
            <a:solidFill>
              <a:srgbClr val="152644">
                <a:alpha val="4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37947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300" kern="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ANALYSIS ENGINE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822960" y="4114800"/>
            <a:ext cx="1051560" cy="1463040"/>
          </a:xfrm>
          <a:prstGeom prst="rect">
            <a:avLst>
              <a:gd name="adj" fmla="val 6957"/>
            </a:avLst>
          </a:prstGeom>
          <a:solidFill>
            <a:srgbClr val="050B18"/>
          </a:solidFill>
          <a:ln w="12700">
            <a:solidFill>
              <a:srgbClr val="152644">
                <a:alpha val="4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1248" y="4389120"/>
            <a:ext cx="1005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94A3B8"/>
                </a:solidFill>
              </a:rPr>
              <a:t>NLP Heuristics</a:t>
            </a:r>
            <a:endParaRPr lang="en-US" sz="8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94A3B8"/>
                </a:solidFill>
              </a:rPr>
              <a:t>(Risk Score)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2011680" y="4114800"/>
            <a:ext cx="1051560" cy="1463040"/>
          </a:xfrm>
          <a:prstGeom prst="rect">
            <a:avLst>
              <a:gd name="adj" fmla="val 6957"/>
            </a:avLst>
          </a:prstGeom>
          <a:solidFill>
            <a:srgbClr val="050B18"/>
          </a:solidFill>
          <a:ln w="12700">
            <a:solidFill>
              <a:srgbClr val="152644">
                <a:alpha val="4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029968" y="4389120"/>
            <a:ext cx="1005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94A3B8"/>
                </a:solidFill>
              </a:rPr>
              <a:t>Evidence</a:t>
            </a:r>
            <a:endParaRPr lang="en-US" sz="8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94A3B8"/>
                </a:solidFill>
              </a:rPr>
              <a:t>Scoring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3200400" y="4114800"/>
            <a:ext cx="1051560" cy="1463040"/>
          </a:xfrm>
          <a:prstGeom prst="rect">
            <a:avLst>
              <a:gd name="adj" fmla="val 6957"/>
            </a:avLst>
          </a:prstGeom>
          <a:solidFill>
            <a:srgbClr val="050B18"/>
          </a:solidFill>
          <a:ln w="12700">
            <a:solidFill>
              <a:srgbClr val="152644">
                <a:alpha val="4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18688" y="4389120"/>
            <a:ext cx="1005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94A3B8"/>
                </a:solidFill>
              </a:rPr>
              <a:t>FK Reading</a:t>
            </a:r>
            <a:endParaRPr lang="en-US" sz="8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94A3B8"/>
                </a:solidFill>
              </a:rPr>
              <a:t>Level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389120" y="4114800"/>
            <a:ext cx="1051560" cy="1463040"/>
          </a:xfrm>
          <a:prstGeom prst="rect">
            <a:avLst>
              <a:gd name="adj" fmla="val 6957"/>
            </a:avLst>
          </a:prstGeom>
          <a:solidFill>
            <a:srgbClr val="050B18"/>
          </a:solidFill>
          <a:ln w="12700">
            <a:solidFill>
              <a:srgbClr val="152644">
                <a:alpha val="4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407408" y="4389120"/>
            <a:ext cx="1005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94A3B8"/>
                </a:solidFill>
              </a:rPr>
              <a:t>Feature</a:t>
            </a:r>
            <a:endParaRPr lang="en-US" sz="8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94A3B8"/>
                </a:solidFill>
              </a:rPr>
              <a:t>Extraction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943600" y="1417320"/>
            <a:ext cx="5669280" cy="1737360"/>
          </a:xfrm>
          <a:prstGeom prst="rect">
            <a:avLst>
              <a:gd name="adj" fmla="val 4211"/>
            </a:avLst>
          </a:prstGeom>
          <a:solidFill>
            <a:srgbClr val="0F1E38"/>
          </a:solidFill>
          <a:ln w="12700">
            <a:solidFill>
              <a:srgbClr val="152644">
                <a:alpha val="4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26480" y="15087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300" kern="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SUPPORT MODULES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6126480" y="1783080"/>
            <a:ext cx="960120" cy="1143000"/>
          </a:xfrm>
          <a:prstGeom prst="rect">
            <a:avLst>
              <a:gd name="adj" fmla="val 7619"/>
            </a:avLst>
          </a:prstGeom>
          <a:solidFill>
            <a:srgbClr val="050B18"/>
          </a:solidFill>
          <a:ln w="12700">
            <a:solidFill>
              <a:srgbClr val="152644">
                <a:alpha val="4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44768" y="20574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94A3B8"/>
                </a:solidFill>
              </a:rPr>
              <a:t>Toast</a:t>
            </a:r>
            <a:endParaRPr lang="en-US" sz="8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94A3B8"/>
                </a:solidFill>
              </a:rPr>
              <a:t>System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7178040" y="1783080"/>
            <a:ext cx="960120" cy="1143000"/>
          </a:xfrm>
          <a:prstGeom prst="rect">
            <a:avLst>
              <a:gd name="adj" fmla="val 7619"/>
            </a:avLst>
          </a:prstGeom>
          <a:solidFill>
            <a:srgbClr val="050B18"/>
          </a:solidFill>
          <a:ln w="12700">
            <a:solidFill>
              <a:srgbClr val="152644">
                <a:alpha val="4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196328" y="20574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94A3B8"/>
                </a:solidFill>
              </a:rPr>
              <a:t>History</a:t>
            </a:r>
            <a:endParaRPr lang="en-US" sz="8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94A3B8"/>
                </a:solidFill>
              </a:rPr>
              <a:t>Manager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8229600" y="1783080"/>
            <a:ext cx="960120" cy="1143000"/>
          </a:xfrm>
          <a:prstGeom prst="rect">
            <a:avLst>
              <a:gd name="adj" fmla="val 7619"/>
            </a:avLst>
          </a:prstGeom>
          <a:solidFill>
            <a:srgbClr val="050B18"/>
          </a:solidFill>
          <a:ln w="12700">
            <a:solidFill>
              <a:srgbClr val="152644">
                <a:alpha val="4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247888" y="20574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94A3B8"/>
                </a:solidFill>
              </a:rPr>
              <a:t>Analytics</a:t>
            </a:r>
            <a:endParaRPr lang="en-US" sz="8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94A3B8"/>
                </a:solidFill>
              </a:rPr>
              <a:t>Manager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9281160" y="1783080"/>
            <a:ext cx="960120" cy="1143000"/>
          </a:xfrm>
          <a:prstGeom prst="rect">
            <a:avLst>
              <a:gd name="adj" fmla="val 7619"/>
            </a:avLst>
          </a:prstGeom>
          <a:solidFill>
            <a:srgbClr val="050B18"/>
          </a:solidFill>
          <a:ln w="12700">
            <a:solidFill>
              <a:srgbClr val="152644">
                <a:alpha val="4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299448" y="20574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94A3B8"/>
                </a:solidFill>
              </a:rPr>
              <a:t>Theme</a:t>
            </a:r>
            <a:endParaRPr lang="en-US" sz="8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94A3B8"/>
                </a:solidFill>
              </a:rPr>
              <a:t>Manager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10332720" y="1783080"/>
            <a:ext cx="960120" cy="1143000"/>
          </a:xfrm>
          <a:prstGeom prst="rect">
            <a:avLst>
              <a:gd name="adj" fmla="val 7619"/>
            </a:avLst>
          </a:prstGeom>
          <a:solidFill>
            <a:srgbClr val="050B18"/>
          </a:solidFill>
          <a:ln w="12700">
            <a:solidFill>
              <a:srgbClr val="152644">
                <a:alpha val="40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351008" y="20574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94A3B8"/>
                </a:solidFill>
              </a:rPr>
              <a:t>Export</a:t>
            </a:r>
            <a:endParaRPr lang="en-US" sz="8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94A3B8"/>
                </a:solidFill>
              </a:rPr>
              <a:t>System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5943600" y="3337560"/>
            <a:ext cx="5669280" cy="2468880"/>
          </a:xfrm>
          <a:prstGeom prst="rect">
            <a:avLst>
              <a:gd name="adj" fmla="val 2963"/>
            </a:avLst>
          </a:prstGeom>
          <a:solidFill>
            <a:srgbClr val="0F1E38"/>
          </a:solidFill>
          <a:ln w="12700">
            <a:solidFill>
              <a:srgbClr val="152644">
                <a:alpha val="40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126480" y="34290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300" kern="0" dirty="0">
                <a:solidFill>
                  <a:srgbClr val="9B5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EXTERNAL (OPTIONAL — USER CONSENT)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6126480" y="3749040"/>
            <a:ext cx="5303520" cy="1828800"/>
          </a:xfrm>
          <a:prstGeom prst="rect">
            <a:avLst>
              <a:gd name="adj" fmla="val 4000"/>
            </a:avLst>
          </a:prstGeom>
          <a:solidFill>
            <a:srgbClr val="050B18"/>
          </a:solidFill>
          <a:ln w="12700">
            <a:solidFill>
              <a:srgbClr val="152644">
                <a:alpha val="40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09360" y="39319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B59F5"/>
                </a:solidFill>
              </a:rPr>
              <a:t>Anthropic Claude API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6309360" y="4315968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claude-sonnet-4-6  |  max_tokens: 400  |  User must click "Deep AI" to trigger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309360" y="4828032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C542"/>
                </a:solidFill>
              </a:rPr>
              <a:t>⚠️  Only called on explicit user action — no passive data transmission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5623560" y="219456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75569"/>
                </a:solidFill>
              </a:rPr>
              <a:t>→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50B18"/>
          </a:solidFill>
          <a:ln w="12700">
            <a:solidFill>
              <a:srgbClr val="050B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300" kern="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08 / 12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EF2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Modules &amp; Features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3657600" cy="2514600"/>
          </a:xfrm>
          <a:prstGeom prst="rect">
            <a:avLst>
              <a:gd name="adj" fmla="val 2909"/>
            </a:avLst>
          </a:prstGeom>
          <a:solidFill>
            <a:srgbClr val="0A1628"/>
          </a:solidFill>
          <a:ln w="12700">
            <a:solidFill>
              <a:srgbClr val="152644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143000"/>
            <a:ext cx="3657600" cy="4572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2344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🧠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05840" y="126187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EF2FF"/>
                </a:solidFill>
              </a:rPr>
              <a:t>Analysis Engine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1664208"/>
            <a:ext cx="32918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• Sensational word detection (29 phrases)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48640" y="2002536"/>
            <a:ext cx="32918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• Evidence signal scoring (26 patterns)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48640" y="2340864"/>
            <a:ext cx="32918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• Attribution phrase recognition (10 patterns)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48640" y="2679192"/>
            <a:ext cx="32918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• ALL-CAPS and punctuation analysis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48640" y="3017520"/>
            <a:ext cx="32918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• Flesch-Kincaid reading level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297680" y="1143000"/>
            <a:ext cx="3657600" cy="2514600"/>
          </a:xfrm>
          <a:prstGeom prst="rect">
            <a:avLst>
              <a:gd name="adj" fmla="val 2909"/>
            </a:avLst>
          </a:prstGeom>
          <a:solidFill>
            <a:srgbClr val="0A1628"/>
          </a:solidFill>
          <a:ln w="12700">
            <a:solidFill>
              <a:srgbClr val="152644">
                <a:alpha val="4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297680" y="1143000"/>
            <a:ext cx="3657600" cy="45720"/>
          </a:xfrm>
          <a:prstGeom prst="rect">
            <a:avLst/>
          </a:prstGeom>
          <a:solidFill>
            <a:srgbClr val="F5C542"/>
          </a:solidFill>
          <a:ln w="12700">
            <a:solidFill>
              <a:srgbClr val="F5C54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34840" y="12344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937760" y="126187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EF2FF"/>
                </a:solidFill>
              </a:rPr>
              <a:t>Result Renderer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480560" y="1664208"/>
            <a:ext cx="32918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• Animated SVG radial confidence gauge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480560" y="2002536"/>
            <a:ext cx="32918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• Linear progress meter with dot indicator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480560" y="2340864"/>
            <a:ext cx="32918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• Risk vs Evidence cue cards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480560" y="2679192"/>
            <a:ext cx="32918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• Animated feature breakdown bars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480560" y="3017520"/>
            <a:ext cx="32918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• Natural language verdict explanation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8229600" y="1143000"/>
            <a:ext cx="3657600" cy="2514600"/>
          </a:xfrm>
          <a:prstGeom prst="rect">
            <a:avLst>
              <a:gd name="adj" fmla="val 2909"/>
            </a:avLst>
          </a:prstGeom>
          <a:solidFill>
            <a:srgbClr val="0A1628"/>
          </a:solidFill>
          <a:ln w="12700">
            <a:solidFill>
              <a:srgbClr val="152644">
                <a:alpha val="4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29600" y="1143000"/>
            <a:ext cx="3657600" cy="45720"/>
          </a:xfrm>
          <a:prstGeom prst="rect">
            <a:avLst/>
          </a:prstGeom>
          <a:solidFill>
            <a:srgbClr val="9B59F5"/>
          </a:solidFill>
          <a:ln w="12700">
            <a:solidFill>
              <a:srgbClr val="9B59F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366760" y="12344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🤖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8869680" y="126187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EF2FF"/>
                </a:solidFill>
              </a:rPr>
              <a:t>AI Deep Analysis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412480" y="1664208"/>
            <a:ext cx="32918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• Optional Claude API integration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412480" y="2002536"/>
            <a:ext cx="32918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• Expert credibility assessment prompt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412480" y="2340864"/>
            <a:ext cx="32918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• 3-4 sentence actionable review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412480" y="2679192"/>
            <a:ext cx="32918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• Animated loading indicator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412480" y="3017520"/>
            <a:ext cx="32918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• Graceful API failure fallback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65760" y="3840480"/>
            <a:ext cx="3657600" cy="2514600"/>
          </a:xfrm>
          <a:prstGeom prst="rect">
            <a:avLst>
              <a:gd name="adj" fmla="val 2909"/>
            </a:avLst>
          </a:prstGeom>
          <a:solidFill>
            <a:srgbClr val="0A1628"/>
          </a:solidFill>
          <a:ln w="12700">
            <a:solidFill>
              <a:srgbClr val="152644">
                <a:alpha val="4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65760" y="3840480"/>
            <a:ext cx="3657600" cy="457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" y="39319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📈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1005840" y="395935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EF2FF"/>
                </a:solidFill>
              </a:rPr>
              <a:t>History &amp; Analytics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48640" y="4361688"/>
            <a:ext cx="32918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• Session history (last 12 analyses)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48640" y="4700016"/>
            <a:ext cx="32918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• Clickable history reload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48640" y="5038344"/>
            <a:ext cx="32918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• Total / Real / Fake counters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48640" y="5376672"/>
            <a:ext cx="32918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• Average confidence tracker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48640" y="5715000"/>
            <a:ext cx="32918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• Animated analytics bar charts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297680" y="3840480"/>
            <a:ext cx="3657600" cy="2514600"/>
          </a:xfrm>
          <a:prstGeom prst="rect">
            <a:avLst>
              <a:gd name="adj" fmla="val 2909"/>
            </a:avLst>
          </a:prstGeom>
          <a:solidFill>
            <a:srgbClr val="0A1628"/>
          </a:solidFill>
          <a:ln w="12700">
            <a:solidFill>
              <a:srgbClr val="152644">
                <a:alpha val="40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297680" y="3840480"/>
            <a:ext cx="3657600" cy="4572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434840" y="39319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💾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4937760" y="395935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EF2FF"/>
                </a:solidFill>
              </a:rPr>
              <a:t>Export System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4480560" y="4361688"/>
            <a:ext cx="32918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• Clipboard copy (formatted text report)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480560" y="4700016"/>
            <a:ext cx="32918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• JSON download with metadata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480560" y="5038344"/>
            <a:ext cx="32918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• Timestamped filenames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480560" y="5376672"/>
            <a:ext cx="32918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• One-click, no dialogs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8229600" y="3840480"/>
            <a:ext cx="3657600" cy="2514600"/>
          </a:xfrm>
          <a:prstGeom prst="rect">
            <a:avLst>
              <a:gd name="adj" fmla="val 2909"/>
            </a:avLst>
          </a:prstGeom>
          <a:solidFill>
            <a:srgbClr val="0A1628"/>
          </a:solidFill>
          <a:ln w="12700">
            <a:solidFill>
              <a:srgbClr val="152644">
                <a:alpha val="40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229600" y="3840480"/>
            <a:ext cx="3657600" cy="45720"/>
          </a:xfrm>
          <a:prstGeom prst="rect">
            <a:avLst/>
          </a:prstGeom>
          <a:solidFill>
            <a:srgbClr val="F5C542"/>
          </a:solidFill>
          <a:ln w="12700">
            <a:solidFill>
              <a:srgbClr val="F5C542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366760" y="39319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✨</a:t>
            </a:r>
            <a:endParaRPr lang="en-US" sz="1800" dirty="0"/>
          </a:p>
        </p:txBody>
      </p:sp>
      <p:sp>
        <p:nvSpPr>
          <p:cNvPr id="53" name="Text 51"/>
          <p:cNvSpPr/>
          <p:nvPr/>
        </p:nvSpPr>
        <p:spPr>
          <a:xfrm>
            <a:off x="8869680" y="395935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EF2FF"/>
                </a:solidFill>
              </a:rPr>
              <a:t>UX Systems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8412480" y="4361688"/>
            <a:ext cx="32918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• Dark / Light mode toggle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8412480" y="4700016"/>
            <a:ext cx="32918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• Toast notification system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8412480" y="5038344"/>
            <a:ext cx="32918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• Skeleton loading state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8412480" y="5376672"/>
            <a:ext cx="32918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• Onboarding overlay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8412480" y="5715000"/>
            <a:ext cx="32918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• Keyboard shortcut (Ctrl+Enter)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50B18"/>
          </a:solidFill>
          <a:ln w="12700">
            <a:solidFill>
              <a:srgbClr val="050B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F5C542"/>
          </a:solidFill>
          <a:ln w="12700">
            <a:solidFill>
              <a:srgbClr val="F5C5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300" kern="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09 / 12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EF2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Application UI Overview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3474720" cy="4572000"/>
          </a:xfrm>
          <a:prstGeom prst="rect">
            <a:avLst>
              <a:gd name="adj" fmla="val 2105"/>
            </a:avLst>
          </a:prstGeom>
          <a:solidFill>
            <a:srgbClr val="0A1628"/>
          </a:solidFill>
          <a:ln w="12700">
            <a:solidFill>
              <a:srgbClr val="152644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005840"/>
            <a:ext cx="3474720" cy="4572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9728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300" kern="0" dirty="0">
                <a:solidFill>
                  <a:srgbClr val="4F8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 PANEL — DARK MODE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502920" y="1417320"/>
            <a:ext cx="3200400" cy="1554480"/>
          </a:xfrm>
          <a:prstGeom prst="rect">
            <a:avLst>
              <a:gd name="adj" fmla="val 4706"/>
            </a:avLst>
          </a:prstGeom>
          <a:solidFill>
            <a:srgbClr val="0F1E38"/>
          </a:solidFill>
          <a:ln w="12700">
            <a:solidFill>
              <a:srgbClr val="152644">
                <a:alpha val="4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19202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</a:rPr>
              <a:t>[ Article Textarea ]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02920" y="3063240"/>
            <a:ext cx="1508760" cy="502920"/>
          </a:xfrm>
          <a:prstGeom prst="rect">
            <a:avLst>
              <a:gd name="adj" fmla="val 14545"/>
            </a:avLst>
          </a:prstGeom>
          <a:solidFill>
            <a:srgbClr val="0F1E38"/>
          </a:solidFill>
          <a:ln w="12700">
            <a:solidFill>
              <a:srgbClr val="152644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103120" y="3063240"/>
            <a:ext cx="1600200" cy="502920"/>
          </a:xfrm>
          <a:prstGeom prst="rect">
            <a:avLst>
              <a:gd name="adj" fmla="val 14545"/>
            </a:avLst>
          </a:prstGeom>
          <a:solidFill>
            <a:srgbClr val="0F1E38"/>
          </a:solidFill>
          <a:ln w="12700">
            <a:solidFill>
              <a:srgbClr val="152644">
                <a:alpha val="4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154680"/>
            <a:ext cx="1417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75569"/>
                </a:solidFill>
              </a:rPr>
              <a:t>[ Real / Fake ]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148840" y="315468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i="1" dirty="0">
                <a:solidFill>
                  <a:srgbClr val="4F8EF7"/>
                </a:solidFill>
              </a:rPr>
              <a:t>[ Analyze ]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502920" y="3657600"/>
            <a:ext cx="1371600" cy="1371600"/>
          </a:xfrm>
          <a:prstGeom prst="rect">
            <a:avLst>
              <a:gd name="adj" fmla="val 5333"/>
            </a:avLst>
          </a:prstGeom>
          <a:solidFill>
            <a:srgbClr val="0F1E38"/>
          </a:solidFill>
          <a:ln w="12700">
            <a:solidFill>
              <a:srgbClr val="152644">
                <a:alpha val="4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38404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dirty="0">
                <a:solidFill>
                  <a:srgbClr val="4F8EF7"/>
                </a:solidFill>
              </a:rPr>
              <a:t>◯</a:t>
            </a:r>
            <a:endParaRPr lang="en-US" sz="4200" dirty="0"/>
          </a:p>
        </p:txBody>
      </p:sp>
      <p:sp>
        <p:nvSpPr>
          <p:cNvPr id="17" name="Text 15"/>
          <p:cNvSpPr/>
          <p:nvPr/>
        </p:nvSpPr>
        <p:spPr>
          <a:xfrm>
            <a:off x="548640" y="466344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75569"/>
                </a:solidFill>
              </a:rPr>
              <a:t>Gauge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1965960" y="3657600"/>
            <a:ext cx="1828800" cy="1371600"/>
          </a:xfrm>
          <a:prstGeom prst="rect">
            <a:avLst>
              <a:gd name="adj" fmla="val 5333"/>
            </a:avLst>
          </a:prstGeom>
          <a:solidFill>
            <a:srgbClr val="0F1E38"/>
          </a:solidFill>
          <a:ln w="12700">
            <a:solidFill>
              <a:srgbClr val="152644">
                <a:alpha val="4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057400" y="38404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8EF7"/>
                </a:solidFill>
              </a:rPr>
              <a:t>VERDICT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057400" y="420624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</a:rPr>
              <a:t>Confidence Score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2057400" y="43891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F8E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48640" y="50749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475569"/>
                </a:solidFill>
              </a:rPr>
              <a:t>[ Feature Breakdown ]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206240" y="1005840"/>
            <a:ext cx="3474720" cy="4572000"/>
          </a:xfrm>
          <a:prstGeom prst="rect">
            <a:avLst>
              <a:gd name="adj" fmla="val 2105"/>
            </a:avLst>
          </a:prstGeom>
          <a:solidFill>
            <a:srgbClr val="0A1628"/>
          </a:solidFill>
          <a:ln w="12700">
            <a:solidFill>
              <a:srgbClr val="152644">
                <a:alpha val="4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206240" y="1005840"/>
            <a:ext cx="3474720" cy="457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43400" y="109728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300" kern="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 PANEL — CREDIBLE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4343400" y="1417320"/>
            <a:ext cx="3200400" cy="1554480"/>
          </a:xfrm>
          <a:prstGeom prst="rect">
            <a:avLst>
              <a:gd name="adj" fmla="val 4706"/>
            </a:avLst>
          </a:prstGeom>
          <a:solidFill>
            <a:srgbClr val="0F1E38"/>
          </a:solidFill>
          <a:ln w="12700">
            <a:solidFill>
              <a:srgbClr val="152644">
                <a:alpha val="4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63440" y="19202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</a:rPr>
              <a:t>[ Article Textarea ]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343400" y="3063240"/>
            <a:ext cx="1508760" cy="502920"/>
          </a:xfrm>
          <a:prstGeom prst="rect">
            <a:avLst>
              <a:gd name="adj" fmla="val 14545"/>
            </a:avLst>
          </a:prstGeom>
          <a:solidFill>
            <a:srgbClr val="0F1E38"/>
          </a:solidFill>
          <a:ln w="12700">
            <a:solidFill>
              <a:srgbClr val="152644">
                <a:alpha val="4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3600" y="3063240"/>
            <a:ext cx="1600200" cy="502920"/>
          </a:xfrm>
          <a:prstGeom prst="rect">
            <a:avLst>
              <a:gd name="adj" fmla="val 14545"/>
            </a:avLst>
          </a:prstGeom>
          <a:solidFill>
            <a:srgbClr val="0F1E38"/>
          </a:solidFill>
          <a:ln w="12700">
            <a:solidFill>
              <a:srgbClr val="152644">
                <a:alpha val="4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89120" y="3154680"/>
            <a:ext cx="1417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75569"/>
                </a:solidFill>
              </a:rPr>
              <a:t>[ Real / Fake ]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989320" y="315468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i="1" dirty="0">
                <a:solidFill>
                  <a:srgbClr val="22C55E"/>
                </a:solidFill>
              </a:rPr>
              <a:t>[ Analyze ]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343400" y="3657600"/>
            <a:ext cx="1371600" cy="1371600"/>
          </a:xfrm>
          <a:prstGeom prst="rect">
            <a:avLst>
              <a:gd name="adj" fmla="val 5333"/>
            </a:avLst>
          </a:prstGeom>
          <a:solidFill>
            <a:srgbClr val="0F1E38"/>
          </a:solidFill>
          <a:ln w="12700">
            <a:solidFill>
              <a:srgbClr val="152644">
                <a:alpha val="4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17720" y="38404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dirty="0">
                <a:solidFill>
                  <a:srgbClr val="22C55E"/>
                </a:solidFill>
              </a:rPr>
              <a:t>◯</a:t>
            </a:r>
            <a:endParaRPr lang="en-US" sz="4200" dirty="0"/>
          </a:p>
        </p:txBody>
      </p:sp>
      <p:sp>
        <p:nvSpPr>
          <p:cNvPr id="34" name="Text 32"/>
          <p:cNvSpPr/>
          <p:nvPr/>
        </p:nvSpPr>
        <p:spPr>
          <a:xfrm>
            <a:off x="4389120" y="466344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75569"/>
                </a:solidFill>
              </a:rPr>
              <a:t>Gauge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5806440" y="3657600"/>
            <a:ext cx="1828800" cy="1371600"/>
          </a:xfrm>
          <a:prstGeom prst="rect">
            <a:avLst>
              <a:gd name="adj" fmla="val 5333"/>
            </a:avLst>
          </a:prstGeom>
          <a:solidFill>
            <a:srgbClr val="0F1E38"/>
          </a:solidFill>
          <a:ln w="12700">
            <a:solidFill>
              <a:srgbClr val="152644">
                <a:alpha val="4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897880" y="38404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</a:rPr>
              <a:t>✓ CREDIBLE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897880" y="420624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</a:rPr>
              <a:t>Confidence Score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5897880" y="43891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C5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82%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4389120" y="50749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475569"/>
                </a:solidFill>
              </a:rPr>
              <a:t>[ Feature Breakdown ]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8046720" y="1005840"/>
            <a:ext cx="3474720" cy="4572000"/>
          </a:xfrm>
          <a:prstGeom prst="rect">
            <a:avLst>
              <a:gd name="adj" fmla="val 2105"/>
            </a:avLst>
          </a:prstGeom>
          <a:solidFill>
            <a:srgbClr val="0A1628"/>
          </a:solidFill>
          <a:ln w="12700">
            <a:solidFill>
              <a:srgbClr val="152644">
                <a:alpha val="4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046720" y="1005840"/>
            <a:ext cx="3474720" cy="457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183880" y="109728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300" kern="0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 PANEL — DISPUTED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8183880" y="1417320"/>
            <a:ext cx="3200400" cy="1554480"/>
          </a:xfrm>
          <a:prstGeom prst="rect">
            <a:avLst>
              <a:gd name="adj" fmla="val 4706"/>
            </a:avLst>
          </a:prstGeom>
          <a:solidFill>
            <a:srgbClr val="0F1E38"/>
          </a:solidFill>
          <a:ln w="12700">
            <a:solidFill>
              <a:srgbClr val="152644">
                <a:alpha val="40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503920" y="19202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</a:rPr>
              <a:t>[ Article Textarea ]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8183880" y="3063240"/>
            <a:ext cx="1508760" cy="502920"/>
          </a:xfrm>
          <a:prstGeom prst="rect">
            <a:avLst>
              <a:gd name="adj" fmla="val 14545"/>
            </a:avLst>
          </a:prstGeom>
          <a:solidFill>
            <a:srgbClr val="0F1E38"/>
          </a:solidFill>
          <a:ln w="12700">
            <a:solidFill>
              <a:srgbClr val="152644">
                <a:alpha val="40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784080" y="3063240"/>
            <a:ext cx="1600200" cy="502920"/>
          </a:xfrm>
          <a:prstGeom prst="rect">
            <a:avLst>
              <a:gd name="adj" fmla="val 14545"/>
            </a:avLst>
          </a:prstGeom>
          <a:solidFill>
            <a:srgbClr val="0F1E38"/>
          </a:solidFill>
          <a:ln w="12700">
            <a:solidFill>
              <a:srgbClr val="152644">
                <a:alpha val="4000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229600" y="3154680"/>
            <a:ext cx="1417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75569"/>
                </a:solidFill>
              </a:rPr>
              <a:t>[ Real / Fake ]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9829800" y="315468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i="1" dirty="0">
                <a:solidFill>
                  <a:srgbClr val="EF4444"/>
                </a:solidFill>
              </a:rPr>
              <a:t>[ Analyze ]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8183880" y="3657600"/>
            <a:ext cx="1371600" cy="1371600"/>
          </a:xfrm>
          <a:prstGeom prst="rect">
            <a:avLst>
              <a:gd name="adj" fmla="val 5333"/>
            </a:avLst>
          </a:prstGeom>
          <a:solidFill>
            <a:srgbClr val="0F1E38"/>
          </a:solidFill>
          <a:ln w="12700">
            <a:solidFill>
              <a:srgbClr val="152644">
                <a:alpha val="4000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458200" y="38404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dirty="0">
                <a:solidFill>
                  <a:srgbClr val="EF4444"/>
                </a:solidFill>
              </a:rPr>
              <a:t>◯</a:t>
            </a:r>
            <a:endParaRPr lang="en-US" sz="4200" dirty="0"/>
          </a:p>
        </p:txBody>
      </p:sp>
      <p:sp>
        <p:nvSpPr>
          <p:cNvPr id="51" name="Text 49"/>
          <p:cNvSpPr/>
          <p:nvPr/>
        </p:nvSpPr>
        <p:spPr>
          <a:xfrm>
            <a:off x="8229600" y="466344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75569"/>
                </a:solidFill>
              </a:rPr>
              <a:t>Gauge</a:t>
            </a:r>
            <a:endParaRPr lang="en-US" sz="700" dirty="0"/>
          </a:p>
        </p:txBody>
      </p:sp>
      <p:sp>
        <p:nvSpPr>
          <p:cNvPr id="52" name="Shape 50"/>
          <p:cNvSpPr/>
          <p:nvPr/>
        </p:nvSpPr>
        <p:spPr>
          <a:xfrm>
            <a:off x="9646920" y="3657600"/>
            <a:ext cx="1828800" cy="1371600"/>
          </a:xfrm>
          <a:prstGeom prst="rect">
            <a:avLst>
              <a:gd name="adj" fmla="val 5333"/>
            </a:avLst>
          </a:prstGeom>
          <a:solidFill>
            <a:srgbClr val="0F1E38"/>
          </a:solidFill>
          <a:ln w="12700">
            <a:solidFill>
              <a:srgbClr val="152644">
                <a:alpha val="4000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738360" y="38404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</a:rPr>
              <a:t>✕ DISPUTED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9738360" y="420624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</a:rPr>
              <a:t>Confidence Score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9738360" y="43891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91%</a:t>
            </a:r>
            <a:endParaRPr lang="en-US" sz="2200" dirty="0"/>
          </a:p>
        </p:txBody>
      </p:sp>
      <p:sp>
        <p:nvSpPr>
          <p:cNvPr id="56" name="Text 54"/>
          <p:cNvSpPr/>
          <p:nvPr/>
        </p:nvSpPr>
        <p:spPr>
          <a:xfrm>
            <a:off x="8229600" y="50749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475569"/>
                </a:solidFill>
              </a:rPr>
              <a:t>[ Feature Breakdown ]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365760" y="580644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300" kern="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ADDITIONAL SCREENS</a:t>
            </a:r>
            <a:endParaRPr lang="en-US" sz="700" dirty="0"/>
          </a:p>
        </p:txBody>
      </p:sp>
      <p:sp>
        <p:nvSpPr>
          <p:cNvPr id="58" name="Shape 56"/>
          <p:cNvSpPr/>
          <p:nvPr/>
        </p:nvSpPr>
        <p:spPr>
          <a:xfrm>
            <a:off x="365760" y="6035040"/>
            <a:ext cx="2103120" cy="594360"/>
          </a:xfrm>
          <a:prstGeom prst="rect">
            <a:avLst>
              <a:gd name="adj" fmla="val 12308"/>
            </a:avLst>
          </a:prstGeom>
          <a:solidFill>
            <a:srgbClr val="0F1E38"/>
          </a:solidFill>
          <a:ln w="12700">
            <a:solidFill>
              <a:srgbClr val="152644">
                <a:alpha val="40000"/>
              </a:srgbClr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57200" y="61722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History Strip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2697480" y="6035040"/>
            <a:ext cx="2103120" cy="594360"/>
          </a:xfrm>
          <a:prstGeom prst="rect">
            <a:avLst>
              <a:gd name="adj" fmla="val 12308"/>
            </a:avLst>
          </a:prstGeom>
          <a:solidFill>
            <a:srgbClr val="0F1E38"/>
          </a:solidFill>
          <a:ln w="12700">
            <a:solidFill>
              <a:srgbClr val="152644">
                <a:alpha val="40000"/>
              </a:srgbClr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788920" y="61722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Analytics Dashboard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5029200" y="6035040"/>
            <a:ext cx="2103120" cy="594360"/>
          </a:xfrm>
          <a:prstGeom prst="rect">
            <a:avLst>
              <a:gd name="adj" fmla="val 12308"/>
            </a:avLst>
          </a:prstGeom>
          <a:solidFill>
            <a:srgbClr val="0F1E38"/>
          </a:solidFill>
          <a:ln w="12700">
            <a:solidFill>
              <a:srgbClr val="152644">
                <a:alpha val="40000"/>
              </a:srgbClr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120640" y="61722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Light Mode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7360920" y="6035040"/>
            <a:ext cx="2103120" cy="594360"/>
          </a:xfrm>
          <a:prstGeom prst="rect">
            <a:avLst>
              <a:gd name="adj" fmla="val 12308"/>
            </a:avLst>
          </a:prstGeom>
          <a:solidFill>
            <a:srgbClr val="0F1E38"/>
          </a:solidFill>
          <a:ln w="12700">
            <a:solidFill>
              <a:srgbClr val="152644">
                <a:alpha val="40000"/>
              </a:srgbClr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452360" y="61722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Onboarding Overlay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9692640" y="6035040"/>
            <a:ext cx="2103120" cy="594360"/>
          </a:xfrm>
          <a:prstGeom prst="rect">
            <a:avLst>
              <a:gd name="adj" fmla="val 12308"/>
            </a:avLst>
          </a:prstGeom>
          <a:solidFill>
            <a:srgbClr val="0F1E38"/>
          </a:solidFill>
          <a:ln w="12700">
            <a:solidFill>
              <a:srgbClr val="152644">
                <a:alpha val="40000"/>
              </a:srgbClr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9784080" y="61722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Mobile View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50B18"/>
          </a:solidFill>
          <a:ln w="12700">
            <a:solidFill>
              <a:srgbClr val="050B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300" kern="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10 / 12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EF2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Algorithm Deep Dive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11247120" cy="2011680"/>
          </a:xfrm>
          <a:prstGeom prst="rect">
            <a:avLst>
              <a:gd name="adj" fmla="val 3636"/>
            </a:avLst>
          </a:prstGeom>
          <a:solidFill>
            <a:srgbClr val="0F1E38"/>
          </a:solidFill>
          <a:ln w="12700">
            <a:solidFill>
              <a:srgbClr val="152644">
                <a:alpha val="4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972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300" kern="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SCORING FORMULAS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685800" y="1417320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Risk Score  = (sensational_hits × 16) + (exclamations × 6) + (all_caps_words × 8) + (questions × 3)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85800" y="1783080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Evid Score  = (evidence_hits × 13) + (attribution_hits × 11) + (has_numbers ? 15 : 0) + clamp(word_count / 8, 0, 20)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85800" y="2148840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Verdict     = evidScore ≥ riskScore  →  "Credible"   |   evidScore &lt; riskScore  →  "Disputed"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85800" y="2514600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F8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Confidence  = clamp(50 + |evidScore − riskScore| × 0.55,  42,  96)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200400"/>
            <a:ext cx="5486400" cy="3291840"/>
          </a:xfrm>
          <a:prstGeom prst="rect">
            <a:avLst>
              <a:gd name="adj" fmla="val 2222"/>
            </a:avLst>
          </a:prstGeom>
          <a:solidFill>
            <a:srgbClr val="0A1628"/>
          </a:solidFill>
          <a:ln w="12700">
            <a:solidFill>
              <a:srgbClr val="152644">
                <a:alpha val="4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29184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300" kern="0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RISK SIGNALS (Fake Indicators)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685800" y="36118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⚠  "shocking","you won't believe","miracle"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85800" y="40690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⚠  "secret remedy","hate this trick","exposed"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85800" y="45262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⚠  "share now","hidden for decades","bombshell"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85800" y="49834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⚠  "mainstream media","deep state","BREAKING:"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85800" y="54406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⚠  Excessive !! marks  |  ALL-CAPS words (3+ chars)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217920" y="3200400"/>
            <a:ext cx="5486400" cy="3291840"/>
          </a:xfrm>
          <a:prstGeom prst="rect">
            <a:avLst>
              <a:gd name="adj" fmla="val 2222"/>
            </a:avLst>
          </a:prstGeom>
          <a:solidFill>
            <a:srgbClr val="0A1628"/>
          </a:solidFill>
          <a:ln w="12700">
            <a:solidFill>
              <a:srgbClr val="152644">
                <a:alpha val="4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46520" y="329184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300" kern="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EVIDENCE SIGNALS (Real Indicators)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6446520" y="36118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 "according to","published","peer-reviewed"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446520" y="40690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 "Dr.","professor","scientists","researchers"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446520" y="45262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 "percent","%","statistics","data shows"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446520" y="49834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 "official","confirmed","spokesperson"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446520" y="54406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 Numeric data present  |  Text length bonus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" y="6400800"/>
            <a:ext cx="11247120" cy="347472"/>
          </a:xfrm>
          <a:prstGeom prst="rect">
            <a:avLst>
              <a:gd name="adj" fmla="val 21053"/>
            </a:avLst>
          </a:prstGeom>
          <a:solidFill>
            <a:srgbClr val="0F1E38"/>
          </a:solidFill>
          <a:ln w="12700">
            <a:solidFill>
              <a:srgbClr val="152644">
                <a:alpha val="4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5800" y="6455664"/>
            <a:ext cx="10789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Flesch-Kincaid:  FK = 206.835 − 1.015×(words/sentences) − 84.6×(syllables/words)  →  &gt;80: Very Easy  |  &gt;60: Standard  |  &gt;40: Academic  |  ≤40: Technical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50B18"/>
          </a:solidFill>
          <a:ln w="12700">
            <a:solidFill>
              <a:srgbClr val="050B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9B59F5"/>
          </a:solidFill>
          <a:ln w="12700">
            <a:solidFill>
              <a:srgbClr val="9B59F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300" kern="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11 / 12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EF2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Future Scope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11247120" cy="1600200"/>
          </a:xfrm>
          <a:prstGeom prst="rect">
            <a:avLst>
              <a:gd name="adj" fmla="val 4571"/>
            </a:avLst>
          </a:prstGeom>
          <a:solidFill>
            <a:srgbClr val="0A1628"/>
          </a:solidFill>
          <a:ln w="12700">
            <a:solidFill>
              <a:srgbClr val="152644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097280"/>
            <a:ext cx="54864" cy="160020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188720"/>
            <a:ext cx="10789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300" kern="0" dirty="0">
                <a:solidFill>
                  <a:srgbClr val="4F8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1 — NEAR TERM (3-6 MONTHS)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685800" y="1508760"/>
            <a:ext cx="5212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→  URL-based article fetching — auto-extract text from any news URL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85800" y="2011680"/>
            <a:ext cx="5212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→  Multi-language support — Hindi and Telugu for regional news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080760" y="1508760"/>
            <a:ext cx="5212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→  Browser extension — Chrome/Firefox for in-context analysis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080760" y="2011680"/>
            <a:ext cx="5212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→  Export to PDF — printable credibility report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880360"/>
            <a:ext cx="11247120" cy="1600200"/>
          </a:xfrm>
          <a:prstGeom prst="rect">
            <a:avLst>
              <a:gd name="adj" fmla="val 4571"/>
            </a:avLst>
          </a:prstGeom>
          <a:solidFill>
            <a:srgbClr val="0A1628"/>
          </a:solidFill>
          <a:ln w="12700">
            <a:solidFill>
              <a:srgbClr val="152644">
                <a:alpha val="4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880360"/>
            <a:ext cx="54864" cy="1600200"/>
          </a:xfrm>
          <a:prstGeom prst="rect">
            <a:avLst/>
          </a:prstGeom>
          <a:solidFill>
            <a:srgbClr val="F5C542"/>
          </a:solidFill>
          <a:ln w="12700">
            <a:solidFill>
              <a:srgbClr val="F5C54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2971800"/>
            <a:ext cx="10789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300" kern="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2 — MEDIUM TERM (6-12 MONTHS)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685800" y="3291840"/>
            <a:ext cx="5212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→  ML model integration — DistilBERT fine-tuned on FakeNewsNet dataset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85800" y="3794760"/>
            <a:ext cx="5212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→  REST API backend — batch analysis for institutions and researchers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080760" y="3291840"/>
            <a:ext cx="5212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→  User authentication — saved analysis history across sessions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80760" y="3794760"/>
            <a:ext cx="5212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→  Mobile app — React Native iOS and Android application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4663440"/>
            <a:ext cx="11247120" cy="1600200"/>
          </a:xfrm>
          <a:prstGeom prst="rect">
            <a:avLst>
              <a:gd name="adj" fmla="val 4571"/>
            </a:avLst>
          </a:prstGeom>
          <a:solidFill>
            <a:srgbClr val="0A1628"/>
          </a:solidFill>
          <a:ln w="12700">
            <a:solidFill>
              <a:srgbClr val="152644">
                <a:alpha val="4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4663440"/>
            <a:ext cx="54864" cy="1600200"/>
          </a:xfrm>
          <a:prstGeom prst="rect">
            <a:avLst/>
          </a:prstGeom>
          <a:solidFill>
            <a:srgbClr val="9B59F5"/>
          </a:solidFill>
          <a:ln w="12700">
            <a:solidFill>
              <a:srgbClr val="9B59F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4754880"/>
            <a:ext cx="10789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300" kern="0" dirty="0">
                <a:solidFill>
                  <a:srgbClr val="9B5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3 — LONG TERM (1-2 YEARS)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685800" y="5074920"/>
            <a:ext cx="5212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→  Real-time social media monitoring — Twitter/X, Facebook integration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85800" y="5577840"/>
            <a:ext cx="5212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→  Institutional dashboard — for newsrooms and fact-checking organizations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080760" y="5074920"/>
            <a:ext cx="5212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→  Multi-model ensemble — combine BERT, GPT, and Claude for higher accuracy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080760" y="5577840"/>
            <a:ext cx="5212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→  Academic research tool — bias detection, source reliability scoring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6400800"/>
            <a:ext cx="11247120" cy="365760"/>
          </a:xfrm>
          <a:prstGeom prst="rect">
            <a:avLst>
              <a:gd name="adj" fmla="val 20000"/>
            </a:avLst>
          </a:prstGeom>
          <a:solidFill>
            <a:srgbClr val="0F1E38"/>
          </a:solidFill>
          <a:ln w="12700">
            <a:solidFill>
              <a:srgbClr val="152644">
                <a:alpha val="4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" y="6455664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 Datasets: LIAR Dataset (12,836 statements)  |  FakeNewsNet (GossipCop + PolitiFact)  |  ISOT Fake News Dataset (44,919 articles)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50B18"/>
          </a:solidFill>
          <a:ln w="12700">
            <a:solidFill>
              <a:srgbClr val="050B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300" kern="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12 / 12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EF2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11247120" cy="1005840"/>
          </a:xfrm>
          <a:prstGeom prst="rect">
            <a:avLst>
              <a:gd name="adj" fmla="val 7273"/>
            </a:avLst>
          </a:prstGeom>
          <a:solidFill>
            <a:srgbClr val="0F1E38"/>
          </a:solidFill>
          <a:ln w="12700">
            <a:solidFill>
              <a:srgbClr val="152644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005840"/>
            <a:ext cx="11247120" cy="4572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115568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i="1" dirty="0">
                <a:solidFill>
                  <a:srgbClr val="EEF2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TruthScan demonstrates that a professional, AI-augmented fake news detection tool can be built as a zero-dependency browser application — instant, private, explainable, and freely accessible to everyone.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14884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300" kern="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 ACHIEVEMENTS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457200" y="2468880"/>
            <a:ext cx="5486400" cy="1005840"/>
          </a:xfrm>
          <a:prstGeom prst="rect">
            <a:avLst>
              <a:gd name="adj" fmla="val 7273"/>
            </a:avLst>
          </a:prstGeom>
          <a:solidFill>
            <a:srgbClr val="0A1628"/>
          </a:solidFill>
          <a:ln w="12700">
            <a:solidFill>
              <a:srgbClr val="152644">
                <a:alpha val="4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606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✅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51560" y="2606040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EF2FF"/>
                </a:solidFill>
              </a:rPr>
              <a:t>Professional UI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51560" y="2907792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Glassmorphism, animations, responsive, dark/light mode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309360" y="2468880"/>
            <a:ext cx="5486400" cy="1005840"/>
          </a:xfrm>
          <a:prstGeom prst="rect">
            <a:avLst>
              <a:gd name="adj" fmla="val 7273"/>
            </a:avLst>
          </a:prstGeom>
          <a:solidFill>
            <a:srgbClr val="0A1628"/>
          </a:solidFill>
          <a:ln w="12700">
            <a:solidFill>
              <a:srgbClr val="152644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0" y="2606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✅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903720" y="2606040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EF2FF"/>
                </a:solidFill>
              </a:rPr>
              <a:t>Full Explainability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903720" y="2907792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Every verdict shows which signals influenced the result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" y="3611880"/>
            <a:ext cx="5486400" cy="1005840"/>
          </a:xfrm>
          <a:prstGeom prst="rect">
            <a:avLst>
              <a:gd name="adj" fmla="val 7273"/>
            </a:avLst>
          </a:prstGeom>
          <a:solidFill>
            <a:srgbClr val="0A1628"/>
          </a:solidFill>
          <a:ln w="12700">
            <a:solidFill>
              <a:srgbClr val="152644">
                <a:alpha val="4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749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✅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51560" y="3749040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EF2FF"/>
                </a:solidFill>
              </a:rPr>
              <a:t>AI Integration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51560" y="4050792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Claude API provides expert-level deep analysis on demand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309360" y="3611880"/>
            <a:ext cx="5486400" cy="1005840"/>
          </a:xfrm>
          <a:prstGeom prst="rect">
            <a:avLst>
              <a:gd name="adj" fmla="val 7273"/>
            </a:avLst>
          </a:prstGeom>
          <a:solidFill>
            <a:srgbClr val="0A1628"/>
          </a:solidFill>
          <a:ln w="12700">
            <a:solidFill>
              <a:srgbClr val="152644">
                <a:alpha val="4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92240" y="3749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✅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903720" y="3749040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EF2FF"/>
                </a:solidFill>
              </a:rPr>
              <a:t>Privacy-First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903720" y="4050792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Zero data transmitted without explicit user consent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57200" y="4754880"/>
            <a:ext cx="5486400" cy="1005840"/>
          </a:xfrm>
          <a:prstGeom prst="rect">
            <a:avLst>
              <a:gd name="adj" fmla="val 7273"/>
            </a:avLst>
          </a:prstGeom>
          <a:solidFill>
            <a:srgbClr val="0A1628"/>
          </a:solidFill>
          <a:ln w="12700">
            <a:solidFill>
              <a:srgbClr val="152644">
                <a:alpha val="4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4892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✅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51560" y="4892040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EF2FF"/>
                </a:solidFill>
              </a:rPr>
              <a:t>Production Security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51560" y="5193792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XSS prevention, input validation, no data retention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309360" y="4754880"/>
            <a:ext cx="5486400" cy="1005840"/>
          </a:xfrm>
          <a:prstGeom prst="rect">
            <a:avLst>
              <a:gd name="adj" fmla="val 7273"/>
            </a:avLst>
          </a:prstGeom>
          <a:solidFill>
            <a:srgbClr val="0A1628"/>
          </a:solidFill>
          <a:ln w="12700">
            <a:solidFill>
              <a:srgbClr val="152644">
                <a:alpha val="4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92240" y="4892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✅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903720" y="4892040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EF2FF"/>
                </a:solidFill>
              </a:rPr>
              <a:t>Complete Feature Set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903720" y="5193792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History, analytics, export, keyboard shortcuts, PWA manifest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57200" y="5989320"/>
            <a:ext cx="11247120" cy="777240"/>
          </a:xfrm>
          <a:prstGeom prst="rect">
            <a:avLst>
              <a:gd name="adj" fmla="val 9412"/>
            </a:avLst>
          </a:prstGeom>
          <a:solidFill>
            <a:srgbClr val="0F1E38"/>
          </a:solidFill>
          <a:ln w="12700">
            <a:solidFill>
              <a:srgbClr val="152644">
                <a:alpha val="4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57200" y="5989320"/>
            <a:ext cx="11247120" cy="45720"/>
          </a:xfrm>
          <a:prstGeom prst="rect">
            <a:avLst/>
          </a:prstGeom>
          <a:solidFill>
            <a:srgbClr val="F5C542"/>
          </a:solidFill>
          <a:ln w="12700">
            <a:solidFill>
              <a:srgbClr val="F5C54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5800" y="6099048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C5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5029200" y="6144768"/>
            <a:ext cx="6492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Vyshnavi  |  B.Tech CSE (Data Science)  |  Dhanekula Institute of Engineering &amp; Technology, Vijayawada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2026-07-29T01:00:54Z</dcterms:created>
  <dcterms:modified xsi:type="dcterms:W3CDTF">2026-07-29T01:00:54Z</dcterms:modified>
</cp:coreProperties>
</file>